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51760" y="1801368"/>
            <a:ext cx="4297680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1901952"/>
            <a:ext cx="36576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262626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2377440"/>
            <a:ext cx="3566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78AF"/>
                </a:solidFill>
                <a:latin typeface="Aptos Display"/>
              </a:defRPr>
            </a:pPr>
            <a:r>
              <a:t>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rm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30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A Python module is a file containing Python code that can define functions, classes, variables, and runnable code.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0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Modules organize code into smaller, reusable components and group related functionality.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0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A module is created by saving Python code in a file with the .py extension.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0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The module name is based on the file name, and the source demonstrates reusable variables, collections, and functions.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Python Modules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1050">
                <a:solidFill>
                  <a:srgbClr val="262626"/>
                </a:solidFill>
                <a:latin typeface="Aptos"/>
              </a:defRPr>
            </a:pPr>
            <a:r>
              <a:t>Create a Python file such as my_module.py and place related functions, classes, and variables inside it.</a:t>
            </a:r>
          </a:p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1050">
                <a:solidFill>
                  <a:srgbClr val="262626"/>
                </a:solidFill>
                <a:latin typeface="Aptos"/>
              </a:defRPr>
            </a:pPr>
            <a:r>
              <a:t>The source module defines country variables, a list, a tuple, a dictionary, and a function named module_function_add().</a:t>
            </a:r>
          </a:p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1050">
                <a:solidFill>
                  <a:srgbClr val="262626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980">
                <a:solidFill>
                  <a:srgbClr val="262626"/>
                </a:solidFill>
                <a:latin typeface="Courier New"/>
              </a:defRPr>
            </a:pPr>
            <a:r>
              <a:t>country_1 = "USA"</a:t>
            </a:r>
          </a:p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980">
                <a:solidFill>
                  <a:srgbClr val="262626"/>
                </a:solidFill>
                <a:latin typeface="Courier New"/>
              </a:defRPr>
            </a:pPr>
            <a:r>
              <a:t>list_world_nations = ["Argentina", "Italy", "Australia"]</a:t>
            </a:r>
          </a:p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980">
                <a:solidFill>
                  <a:srgbClr val="262626"/>
                </a:solidFill>
                <a:latin typeface="Courier New"/>
              </a:defRPr>
            </a:pPr>
            <a:r>
              <a:t>tuple_world_nations = ("Spain", "France", "Canada")</a:t>
            </a:r>
          </a:p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980">
                <a:solidFill>
                  <a:srgbClr val="262626"/>
                </a:solidFill>
                <a:latin typeface="Courier New"/>
              </a:defRPr>
            </a:pPr>
            <a:r>
              <a:t>def module_function_add(in_number1, in_number2):</a:t>
            </a:r>
          </a:p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980">
                <a:solidFill>
                  <a:srgbClr val="262626"/>
                </a:solidFill>
                <a:latin typeface="Courier New"/>
              </a:defRPr>
            </a:pPr>
            <a:r>
              <a:t>    return in_number1 + in_number2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Creating a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1050">
                <a:solidFill>
                  <a:srgbClr val="262626"/>
                </a:solidFill>
                <a:latin typeface="Aptos"/>
              </a:defRPr>
            </a:pPr>
            <a:r>
              <a:t>Use the import keyword to access functions, classes, and variables from another module.</a:t>
            </a:r>
          </a:p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1050">
                <a:solidFill>
                  <a:srgbClr val="262626"/>
                </a:solidFill>
                <a:latin typeface="Aptos"/>
              </a:defRPr>
            </a:pPr>
            <a:r>
              <a:t>Example: import my_module</a:t>
            </a:r>
          </a:p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1050">
                <a:solidFill>
                  <a:srgbClr val="262626"/>
                </a:solidFill>
                <a:latin typeface="Aptos"/>
              </a:defRPr>
            </a:pPr>
            <a:r>
              <a:t>Module objects are accessed with the module_name.object_name syntax.</a:t>
            </a:r>
          </a:p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1050">
                <a:solidFill>
                  <a:srgbClr val="262626"/>
                </a:solidFill>
                <a:latin typeface="Aptos"/>
              </a:defRPr>
            </a:pPr>
            <a:r>
              <a:t>Examples:</a:t>
            </a:r>
          </a:p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980">
                <a:solidFill>
                  <a:srgbClr val="262626"/>
                </a:solidFill>
                <a:latin typeface="Courier New"/>
              </a:defRPr>
            </a:pPr>
            <a:r>
              <a:t>print(my_module.country_1, my_module.country_2, my_module.country_3)</a:t>
            </a:r>
          </a:p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980">
                <a:solidFill>
                  <a:srgbClr val="262626"/>
                </a:solidFill>
                <a:latin typeface="Courier New"/>
              </a:defRPr>
            </a:pPr>
            <a:r>
              <a:t>print(my_module.list_world_nations)</a:t>
            </a:r>
          </a:p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980">
                <a:solidFill>
                  <a:srgbClr val="262626"/>
                </a:solidFill>
                <a:latin typeface="Courier New"/>
              </a:defRPr>
            </a:pPr>
            <a:r>
              <a:t>print(my_module.module_function_add(1, 3))</a:t>
            </a:r>
          </a:p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1050">
                <a:solidFill>
                  <a:srgbClr val="262626"/>
                </a:solidFill>
                <a:latin typeface="Aptos"/>
              </a:defRPr>
            </a:pPr>
            <a:r>
              <a:t>The source output includes USA China India, the country collections, and 4.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Using a Module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30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Specific module content can be imported directly with: from my_module import country_1, dictionary_world_nations, module_function_add.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0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Imported objects can then be used directly without the module_name.object_name prefix.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0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An alias can be assigned with import my_module as m1.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0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The alias m1 is then used to access the module's variables, collections, and functions.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0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The source uses m1.country_1, m1.list_world_nations, m1.tuple_world_nations, and m1.module_function_add(1, 3).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Importing and Aliasing Modules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1050">
                <a:solidFill>
                  <a:srgbClr val="262626"/>
                </a:solidFill>
                <a:latin typeface="Aptos"/>
              </a:defRPr>
            </a:pPr>
            <a:r>
              <a:t>Python provides a standard library containing many modules that can be used directly in programs.</a:t>
            </a:r>
          </a:p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1050">
                <a:solidFill>
                  <a:srgbClr val="262626"/>
                </a:solidFill>
                <a:latin typeface="Aptos"/>
              </a:defRPr>
            </a:pPr>
            <a:r>
              <a:t>Example from the source:</a:t>
            </a:r>
          </a:p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980">
                <a:solidFill>
                  <a:srgbClr val="262626"/>
                </a:solidFill>
                <a:latin typeface="Courier New"/>
              </a:defRPr>
            </a:pPr>
            <a:r>
              <a:t>import math</a:t>
            </a:r>
          </a:p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980">
                <a:solidFill>
                  <a:srgbClr val="262626"/>
                </a:solidFill>
                <a:latin typeface="Courier New"/>
              </a:defRPr>
            </a:pPr>
            <a:r>
              <a:t>print(math.sqrt(16))</a:t>
            </a:r>
          </a:p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980">
                <a:solidFill>
                  <a:srgbClr val="262626"/>
                </a:solidFill>
                <a:latin typeface="Courier New"/>
              </a:defRPr>
            </a:pPr>
            <a:r>
              <a:t>print(math.pi)</a:t>
            </a:r>
          </a:p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1050">
                <a:solidFill>
                  <a:srgbClr val="262626"/>
                </a:solidFill>
                <a:latin typeface="Aptos"/>
              </a:defRPr>
            </a:pPr>
            <a:r>
              <a:t>Output: 4.0 and 3.141592653589793.</a:t>
            </a:r>
          </a:p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1050">
                <a:solidFill>
                  <a:srgbClr val="262626"/>
                </a:solidFill>
                <a:latin typeface="Aptos"/>
              </a:defRPr>
            </a:pPr>
            <a:r>
              <a:t>A package organizes multiple Python modules in a directory, with __init__.py marking the package.</a:t>
            </a:r>
          </a:p>
          <a:p>
            <a:pPr>
              <a:lnSpc>
                <a:spcPct val="76000"/>
              </a:lnSpc>
              <a:spcBef>
                <a:spcPts val="0"/>
              </a:spcBef>
              <a:spcAft>
                <a:spcPts val="30"/>
              </a:spcAft>
              <a:defRPr sz="1050">
                <a:solidFill>
                  <a:srgbClr val="262626"/>
                </a:solidFill>
                <a:latin typeface="Aptos"/>
              </a:defRPr>
            </a:pPr>
            <a:r>
              <a:t>Example structure: my_package/__init__.py and my_package/sub_module.py.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Standard Library Modules and Packages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2000"/>
              </a:lnSpc>
              <a:spcBef>
                <a:spcPts val="0"/>
              </a:spcBef>
              <a:spcAft>
                <a:spcPts val="3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A custom module folder or package is a directory containing related Python files.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Create __init__.py so the directory is treated as a package and its contents can be imported.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The source demonstrates MathCalc with add2nums.py, mul2nums.py, and sub2nums.py.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"/>
              </a:spcAft>
              <a:defRPr sz="1070">
                <a:solidFill>
                  <a:srgbClr val="262626"/>
                </a:solidFill>
                <a:latin typeface="Courier New"/>
              </a:defRPr>
            </a:pPr>
            <a:r>
              <a:t>from MathCalc import add2nums, mul2nums, sub2nums can access those modules.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The __all__ list in __init__.py controls which members are exposed by from ModuleName import *.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Example: __all__ = ['add2nums', 'mul2nums']; sub2nums is then excluded from wildcard imports.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Custom Module Folder and __all__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2000"/>
              </a:lnSpc>
              <a:spcBef>
                <a:spcPts val="0"/>
              </a:spcBef>
              <a:spcAft>
                <a:spcPts val="30"/>
              </a:spcAft>
              <a:defRPr sz="1070">
                <a:solidFill>
                  <a:srgbClr val="262626"/>
                </a:solidFill>
                <a:latin typeface="Courier New"/>
              </a:defRPr>
            </a:pPr>
            <a:r>
              <a:t>if __name__ == "__main__": lets a Python file work both as an importable module and as a directly executable script.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When the file is run directly, __name__ equals "__main__" and the guarded code executes.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A custom module folder can also contain __main__.py and be executed with: python -m MathModule.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The source uses a main() function as the program entry point and places main() inside the __main__ guard.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When the module is imported, the guarded main code does not execute, allowing functions to be reused without unwanted input or output.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The source also shows sys.path.append('/path/to/module-folder') for importing a module from a different directory.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Executable Modules and main()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